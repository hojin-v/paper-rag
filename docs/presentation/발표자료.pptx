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17320" y="1234440"/>
            <a:ext cx="21534120" cy="11247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2880360"/>
            <a:ext cx="1920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41618"/>
                </a:solidFill>
                <a:latin typeface="Pretendard"/>
                <a:ea typeface="Pretendard"/>
                <a:cs typeface="Pretendard"/>
              </a:rPr>
              <a:t>비정형 PDF를 검수 가능한 지식과 엑셀로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304" y="4160520"/>
            <a:ext cx="20574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0">
                <a:solidFill>
                  <a:srgbClr val="1187CF"/>
                </a:solidFill>
                <a:latin typeface="Pretendard ExtraBold"/>
                <a:ea typeface="Pretendard ExtraBold"/>
                <a:cs typeface="Pretendard ExtraBold"/>
              </a:rPr>
              <a:t>온프레미스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>
                <a:solidFill>
                  <a:srgbClr val="1187CF"/>
                </a:solidFill>
                <a:latin typeface="Pretendard ExtraBold"/>
                <a:ea typeface="Pretendard ExtraBold"/>
                <a:cs typeface="Pretendard ExtraBold"/>
              </a:rPr>
              <a:t>논문 분석 RAG 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87168" y="7955279"/>
            <a:ext cx="4133087" cy="786384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PDF 전 페이지 OCR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2864" y="7955279"/>
            <a:ext cx="2212848" cy="786384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본문 단락화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7955279"/>
            <a:ext cx="4133087" cy="786384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근거 기반 검색(RAG)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44016" y="7955279"/>
            <a:ext cx="2761488" cy="786384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pgvector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898112" y="7955279"/>
            <a:ext cx="1938528" cy="786384"/>
          </a:xfrm>
          <a:prstGeom prst="roundRect">
            <a:avLst>
              <a:gd name="adj" fmla="val 50000"/>
            </a:avLst>
          </a:prstGeom>
          <a:solidFill>
            <a:srgbClr val="D3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4D7D"/>
                </a:solidFill>
                <a:latin typeface="Pretendard SemiBold"/>
                <a:ea typeface="Pretendard SemiBold"/>
                <a:cs typeface="Pretendard SemiBold"/>
              </a:rPr>
              <a:t>온프레미스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0744200"/>
            <a:ext cx="1920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187CF"/>
                </a:solidFill>
                <a:latin typeface="Pretendard SemiBold"/>
                <a:ea typeface="Pretendard SemiBold"/>
                <a:cs typeface="Pretendard SemiBold"/>
              </a:rPr>
              <a:t>PaddleOCR PP-StructureV3 · BGE-M3 · Qwen2.5-7B(Ollama) · PostgreSQL + pgvector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1. 기획 개요 및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논문은 많지만, 바로 검색할 수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383280"/>
            <a:ext cx="10561320" cy="6949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383280"/>
            <a:ext cx="146304" cy="6949440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3794760"/>
            <a:ext cx="9692640" cy="603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문제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7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구조·품질이 제각각인 PDF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7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본문·표·참고문헌이 뒤섞임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7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사람이 일일이 확인·정리하는 수작업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7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필요한 단락을 매번 다시 찾음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383280"/>
            <a:ext cx="10561320" cy="6949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85800" rIns="68580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</a:pPr>
            <a:r>
              <a:rPr sz="2700" b="0">
                <a:solidFill>
                  <a:srgbClr val="49C4DD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정리는 </a:t>
            </a:r>
            <a:r>
              <a:rPr sz="38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자동으로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검색엔 </a:t>
            </a:r>
            <a:r>
              <a:rPr sz="38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근거까지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결과는 </a:t>
            </a:r>
            <a:r>
              <a:rPr sz="38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바로 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1. 기획 개요 및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 소개 — 두 사용자 경험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977639"/>
            <a:ext cx="21214080" cy="76469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108960"/>
            <a:ext cx="2121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등록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은 올리면 자동 구조화(필요 시 보정)되고, </a:t>
            </a: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은 대표·연관 논문과 근거를 반환한다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1. 기획 개요 및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대표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91640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전 페이지 OCR·레이아웃 분석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디지털·스캔 자동 구조화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19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19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단락·표 자동 추출·요약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본문만 선별·정제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230600" y="338328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230600" y="338328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687800" y="3822191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0" y="4937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대표 키워드 자동 추출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논문당 3~5개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34440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91640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정확 키워드 검색 + 유사 제안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정규화·별칭 · 임베딩 Top-3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19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2519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19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근거 기반 관련도 설명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retrieval + 근거 제한 생성(RAG)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230600" y="6720840"/>
            <a:ext cx="70408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6230600" y="672084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687800" y="7159752"/>
            <a:ext cx="914400" cy="914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187CF"/>
              </a:gs>
              <a:gs pos="100000">
                <a:srgbClr val="49C4DD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0" y="8275319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엑셀 산출물 자동 생성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최대 9시트 고정 매핑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2. 생성형 AI 핵심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모델 — 검색(임베딩)과 생성(LLM)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00400"/>
            <a:ext cx="21808440" cy="16916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RAG = 검색</a:t>
            </a:r>
            <a:r>
              <a:rPr sz="3300" b="1">
                <a:solidFill>
                  <a:srgbClr val="49C4DD"/>
                </a:solidFill>
                <a:latin typeface="Pretendard"/>
                <a:ea typeface="Pretendard"/>
                <a:cs typeface="Pretendard"/>
              </a:rPr>
              <a:t> (Retrieval · 임베딩)</a:t>
            </a: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+  생성</a:t>
            </a:r>
            <a:r>
              <a:rPr sz="3300" b="1">
                <a:solidFill>
                  <a:srgbClr val="49C4DD"/>
                </a:solidFill>
                <a:latin typeface="Pretendard"/>
                <a:ea typeface="Pretendard"/>
                <a:cs typeface="Pretendard"/>
              </a:rPr>
              <a:t> (Generation · LLM)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5212080"/>
          <a:ext cx="21808439" cy="4343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925519"/>
                <a:gridCol w="8723376"/>
                <a:gridCol w="9159544"/>
              </a:tblGrid>
              <a:tr h="7772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설정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검색</a:t>
                      </a: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Retrieval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BAAI/bge-m3  (sentence-transformers)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1024차원 · CPU · 한·영 교차 · 코사인 유사도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생성</a:t>
                      </a:r>
                    </a:p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Generation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qwen2.5:7b-instruct-q4_K_M  (Ollama)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temperature=0.0 · format=json · num_predict=192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정규화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Kiwi 형태소 분석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3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질의·키워드 표기 변형 흡수 (LLM 미사용)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71600" y="10104120"/>
            <a:ext cx="2157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모든 LLM 호출은 </a:t>
            </a:r>
            <a:r>
              <a:rPr sz="2500" b="1">
                <a:solidFill>
                  <a:srgbClr val="1187CF"/>
                </a:solidFill>
                <a:latin typeface="Pretendard SemiBold"/>
                <a:ea typeface="Pretendard SemiBold"/>
                <a:cs typeface="Pretendard SemiBold"/>
              </a:rPr>
              <a:t>JSON 스키마 강제 · temperature=0.0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으로 결정적 출력 — 임베딩이 찾고, LLM이 근거로 답한다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2. 생성형 AI 핵심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 설계 — 태스크별 페르소나 + JSON 강제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00400"/>
            <a:ext cx="21808440" cy="3840480"/>
          </a:xfrm>
          <a:prstGeom prst="roundRect">
            <a:avLst>
              <a:gd name="adj" fmla="val 5000"/>
            </a:avLst>
          </a:prstGeom>
          <a:solidFill>
            <a:srgbClr val="0E2233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3493008"/>
            <a:ext cx="201168" cy="20116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11095" y="3493008"/>
            <a:ext cx="201168" cy="20116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21992" y="3493008"/>
            <a:ext cx="201168" cy="20116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3977639"/>
            <a:ext cx="20802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0">
                <a:solidFill>
                  <a:srgbClr val="8BE0C4"/>
                </a:solidFill>
                <a:latin typeface="Menlo"/>
                <a:ea typeface="Pretendard"/>
                <a:cs typeface="Menlo"/>
              </a:rPr>
              <a:t>"너는 한국어/영어 논문을 정제하는 연구 보조자다."</a:t>
            </a:r>
            <a:r>
              <a:rPr sz="2000" b="0">
                <a:solidFill>
                  <a:srgbClr val="7FA9D1"/>
                </a:solidFill>
                <a:latin typeface="Menlo"/>
                <a:ea typeface="Pretendard"/>
                <a:cs typeface="Menlo"/>
              </a:rPr>
              <a:t>     # 단락 정제·요약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0">
                <a:solidFill>
                  <a:srgbClr val="8BE0C4"/>
                </a:solidFill>
                <a:latin typeface="Menlo"/>
                <a:ea typeface="Pretendard"/>
                <a:cs typeface="Menlo"/>
              </a:rPr>
              <a:t>"너는 논문 검색 질의에서 핵심 명사구를 추출하는 보조자다."</a:t>
            </a:r>
            <a:r>
              <a:rPr sz="2000" b="0">
                <a:solidFill>
                  <a:srgbClr val="7FA9D1"/>
                </a:solidFill>
                <a:latin typeface="Menlo"/>
                <a:ea typeface="Pretendard"/>
                <a:cs typeface="Menlo"/>
              </a:rPr>
              <a:t>  # 질의 키워드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0">
                <a:solidFill>
                  <a:srgbClr val="8BE0C4"/>
                </a:solidFill>
                <a:latin typeface="Menlo"/>
                <a:ea typeface="Pretendard"/>
                <a:cs typeface="Menlo"/>
              </a:rPr>
              <a:t>"너는 왜 이 논문이 검색과 관련 있는지 설명하는 보조자다."</a:t>
            </a:r>
            <a:r>
              <a:rPr sz="2000" b="0">
                <a:solidFill>
                  <a:srgbClr val="7FA9D1"/>
                </a:solidFill>
                <a:latin typeface="Menlo"/>
                <a:ea typeface="Pretendard"/>
                <a:cs typeface="Menlo"/>
              </a:rPr>
              <a:t>   # RAG 관련도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7360920"/>
            <a:ext cx="21579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5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입력에 없는 내용 생성 금지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 — 환각 억제를 모든 프롬프트에 명시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5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언어 오염 감지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 — 한자·중국어 혼입 시 강한 페르소나로 1회 재시도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5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실패 정책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 — 폴백 또는 명시적 실패, 저품질 결과를 조용히 섞지 않음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5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캐시</a:t>
            </a:r>
            <a:r>
              <a:rPr sz="25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 — 프롬프트+모델+설정 해시로 동일 요청 재호출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2. 생성형 AI 핵심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생성 단계 — 검색에 근거를 붙이다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3383280"/>
            <a:ext cx="6309360" cy="2011680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대표 / 연관 논문 확정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4133088"/>
            <a:ext cx="713232" cy="512064"/>
          </a:xfrm>
          <a:prstGeom prst="rightArrow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3383280"/>
            <a:ext cx="6309360" cy="2011680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질의와 가장 유사한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근거 단락 1개 선택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5316200" y="4133088"/>
            <a:ext cx="713232" cy="512064"/>
          </a:xfrm>
          <a:prstGeom prst="rightArrow">
            <a:avLst/>
          </a:prstGeom>
          <a:solidFill>
            <a:srgbClr val="118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184880" y="3383280"/>
            <a:ext cx="6309360" cy="2011680"/>
          </a:xfrm>
          <a:prstGeom prst="roundRect">
            <a:avLst>
              <a:gd name="adj" fmla="val 10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“왜 관련 있는지”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1~2문장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852160"/>
            <a:ext cx="21396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6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근거 단락 밖의 사실은 생성하지 않음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 (프롬프트로 제한)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26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▪  </a:t>
            </a:r>
            <a:r>
              <a:rPr sz="26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같은 키워드 재검색은 캐시 재사용 · 생성 실패 시 근거 원문 폴백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9052560"/>
            <a:ext cx="21396960" cy="196596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단순 키워드 검색이 아니라 </a:t>
            </a:r>
            <a:r>
              <a:rPr sz="29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retrieval + 근거 제한 generation</a:t>
            </a:r>
            <a:r>
              <a:rPr sz="2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결합된 구조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3. 아키텍처 및 설계도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파이프라인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4572000"/>
            <a:ext cx="21396960" cy="58024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3154680"/>
            <a:ext cx="2139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수집 STEP 1~8 (레이아웃·OCR → 정제·요약·키워드 → 임베딩·연관도) + 검색 시점 RAG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3. 아키텍처 및 설계도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840480"/>
            <a:ext cx="20482560" cy="8790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3154680"/>
            <a:ext cx="2139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클라이언트 · 서비스(수집/검색) · 저장·모델 서빙 3계층 — 런타임 외부 호출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3. 아키텍처 및 설계도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배포 파이프라인 (CD)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108960"/>
            <a:ext cx="2139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완전 자동 CD</a:t>
            </a:r>
            <a:r>
              <a:rPr sz="25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 — push 한 번으로 빌드 → 헬스체크 → 실패 시 롤백까지 자동</a:t>
            </a:r>
          </a:p>
        </p:txBody>
      </p:sp>
      <p:pic>
        <p:nvPicPr>
          <p:cNvPr id="8" name="Picture 7" descr="architecture-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977639"/>
            <a:ext cx="20848320" cy="8947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4. 오픈소스화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오픈소스 · 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3200400"/>
          <a:ext cx="21808438" cy="594359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43603"/>
                <a:gridCol w="6542532"/>
                <a:gridCol w="4143603"/>
                <a:gridCol w="6978700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계층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오픈소스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라이선스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 근거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</a:tr>
              <a:tr h="104241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레이아웃·OCR·표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PaddleOCR PP-StructureV3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Apache 2.0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디지털·스캔 동일 경로 · CPU · 파인튜닝 지원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04241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LLM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Qwen2.5-7B (Ollama)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Apache 2.0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한국어 양호 · CPU 구동 · JSON 강제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04241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임베딩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BGE-M3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 / Apache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한·영 교차 · 1024차원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04241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PDF 렌더링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pypdfium2 · pypdf · pdfplumber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Apache / BSD-3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페이지 이미지화만 사용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1042415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저장소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PostgreSQL + pgvector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PostgreSQL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정형·벡터 단일 저장소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9966960"/>
            <a:ext cx="21808440" cy="1828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배제 — 상용 이용 가능한 라이선스만 채택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LayoutLMv3(CC BY-NC) · Surya/Marker(GPL·상용) · MinerU·DocLayout-YOLO(AGPL) → Apache/MIT/BSD만 운영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5. 프로젝트 핵심 체크포인트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7040880" cy="6035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704088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형식 무관 추출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498848"/>
            <a:ext cx="6080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전 페이지 이미지화 단일 경로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평가셋 15편 다양성 확보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consistency 회귀 픽스처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그림·수식·참고문헌 제외 규칙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291840"/>
            <a:ext cx="7040880" cy="6035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3291840"/>
            <a:ext cx="704088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검수 → 엑셀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498848"/>
            <a:ext cx="60807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검수 뷰어 반자동 교정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확정본만 DB 적재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엑셀 최대 9시트 고정 매핑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열 너비·헤더 규칙화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93440" y="3291840"/>
            <a:ext cx="6995160" cy="6035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93440" y="3291840"/>
            <a:ext cx="699516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온프레미스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96360" y="4498848"/>
            <a:ext cx="60350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레이아웃·OCR·임베딩·LLM·저장소 전부 로컬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런타임 외부 API 호출 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모델 파일 사전 반입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민감 문서 외부 미전송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10058400"/>
            <a:ext cx="21808440" cy="14630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검출 → 사람 검수 → 확정 적재 → 근거 기반 검색</a:t>
            </a:r>
            <a:r>
              <a:rPr sz="26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 · 전부 로컬에서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5. 프로젝트 핵심 체크포인트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판단 기준과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10561320" cy="612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무엇을 기준으로 자동 처리하나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498848"/>
            <a:ext cx="9601200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블록 신뢰도(confidence) — 낮으면 검수 대상 표시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필터 규칙 — 그림·수식·참고문헌 저장 제외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LLM 출력 — JSON 스키마 강제 + 언어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91840"/>
            <a:ext cx="10561320" cy="612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기대에 못 미치면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526280"/>
            <a:ext cx="96012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신뢰도 낮은 영역 → 사람이 보정 (반자동)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LLM 실패 → 재시도 → 폴백 → 명시적 실패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저품질은 조용히 적재하지 않음 (확정본만)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0012680"/>
            <a:ext cx="21808440" cy="14630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품질 바 = 합격선(mAP·CER·TEDS·F1) · 미달 태스크만 파인튜닝</a:t>
            </a:r>
            <a:r>
              <a:rPr sz="2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— 게이트 (다음 장)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5. 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없이 튜닝 없다 — 합격선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3200400"/>
          <a:ext cx="21808439" cy="53949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61688"/>
                <a:gridCol w="6324447"/>
                <a:gridCol w="2835097"/>
                <a:gridCol w="8287207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합격선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미달 시 조치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레이아웃 분류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클래스별 mAP@0.5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0.85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PP-DocLayout 파인튜닝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읽기 순서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단락 순서 일치율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0.95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컬럼 감지 후처리 보강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OCR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CER (LLM 정제 후)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≤ 3%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PP-OCRv5 한국어 인식 파인튜닝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표 구조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TEDS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0.85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LLM 후처리 → SLANeXt 파인튜닝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E2E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단락 추출 F1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0.90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2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병목 단계 역추적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280160" y="9966960"/>
            <a:ext cx="21808440" cy="1828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B8E9FF"/>
                </a:solidFill>
                <a:latin typeface="Pretendard"/>
                <a:ea typeface="Pretendard"/>
                <a:cs typeface="Pretendard"/>
              </a:rPr>
              <a:t>합격선에 미달한 태스크만 파인튜닝</a:t>
            </a: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— 게이트 방식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현재: 파일럿(n=15) 대조 진행 · 정식 지표는 50~100편 골든셋 라벨링 완료 후 산출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5. 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파일럿 평가 결과와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21579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파일럿 대조 (n=15편 · 그림·독립수식·참고문헌·부록 제외) — 방향 점검용 예비 수치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3840480"/>
          <a:ext cx="21808437" cy="35021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18675"/>
                <a:gridCol w="5926206"/>
                <a:gridCol w="6163254"/>
                <a:gridCol w="3081627"/>
                <a:gridCol w="3318675"/>
              </a:tblGrid>
              <a:tr h="86868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 신뢰도 (Paddle 보고)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우리 라벨 대조 (파일럿)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합격선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레이아웃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conf ≈ 0.93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mAP@0.5 ≈ 0.71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0.85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미달 ▼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OCR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conf ≈ 0.95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CER ≈ 1.8%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≤ 3%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충족 ▲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표 구조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conf ≈ 0.92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TEDS ≈ 0.80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0.85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근접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읽기 순서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—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Menlo"/>
                          <a:ea typeface="Menlo"/>
                          <a:cs typeface="Menlo"/>
                        </a:rPr>
                        <a:t>일치율 ≈ 0.94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≥ 0.95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100" b="0">
                          <a:solidFill>
                            <a:srgbClr val="14161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근접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280160" y="7772400"/>
            <a:ext cx="1056132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80160" y="777240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804672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레이아웃이 낮은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8869680"/>
            <a:ext cx="97840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0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소표본·클래스 불균형 · 제외 경계 판단 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0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2단 조판 도메인 갭 → 신뢰도≠정확도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527280" y="7772400"/>
            <a:ext cx="1056132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527280" y="7772400"/>
            <a:ext cx="146304" cy="2880360"/>
          </a:xfrm>
          <a:prstGeom prst="roundRect">
            <a:avLst>
              <a:gd name="adj" fmla="val 30000"/>
            </a:avLst>
          </a:prstGeom>
          <a:solidFill>
            <a:srgbClr val="228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30200" y="804672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OCR이 높은 이유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0200" y="8869680"/>
            <a:ext cx="97840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0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디지털 PDF(선명) · 한국어 인식 + LLM 정제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22855C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0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취약점은 짧고 밀집된 텍스트 자모 오인식뿐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0972800"/>
            <a:ext cx="2157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→ 레이아웃이 병목</a:t>
            </a:r>
            <a:r>
              <a:rPr sz="21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 : 라벨 규칙 표준화 + 평가셋 확대 → 미달 지속 시 파인튜닝 · </a:t>
            </a:r>
            <a:r>
              <a:rPr sz="2100" b="0">
                <a:solidFill>
                  <a:srgbClr val="5E5E5E"/>
                </a:solidFill>
                <a:latin typeface="Pretendard SemiBold"/>
                <a:ea typeface="Pretendard SemiBold"/>
                <a:cs typeface="Pretendard SemiBold"/>
              </a:rPr>
              <a:t>※ 예비값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6. 형상관리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버전관리와 남은 공백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10561320" cy="594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버전관리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498848"/>
            <a:ext cx="96012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코드 — Conventional Commits · 작업 단위 커밋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이미지 — git SHA 태그 (paperrag:{sha})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롤백 — 직전 성공 SHA로 즉시 (재빌드 없이)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22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DB — 번호순 마이그레이션 순차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91840"/>
            <a:ext cx="10561320" cy="594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공백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526280"/>
            <a:ext cx="9601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✗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모델·프롬프트 버전 기록 — 미구현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E08A10"/>
                </a:solidFill>
                <a:latin typeface="Pretendard"/>
                <a:ea typeface="Pretendard"/>
                <a:cs typeface="Pretendard"/>
              </a:rPr>
              <a:t>◐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데이터 provenance·checksum — 부분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300" b="1">
                <a:solidFill>
                  <a:srgbClr val="E08A10"/>
                </a:solidFill>
                <a:latin typeface="Pretendard"/>
                <a:ea typeface="Pretendard"/>
                <a:cs typeface="Pretendard"/>
              </a:rPr>
              <a:t>◐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비동기 작업 실패 재개 — 부분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9921240"/>
            <a:ext cx="21808440" cy="1371600"/>
          </a:xfrm>
          <a:prstGeom prst="roundRect">
            <a:avLst>
              <a:gd name="adj" fmla="val 12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롤백은 코드만 되돌린다</a:t>
            </a:r>
            <a:r>
              <a:rPr sz="23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 — DB는 하위 호환으로 설계 · 공백은 재현성 확보의 다음 과제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7. 실시간 솔루션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시연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291840"/>
            <a:ext cx="10561320" cy="7223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정상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526280"/>
            <a:ext cx="9692640" cy="5669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1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PDF 업로드 → 레이아웃 검출 → 검수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2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영역별 OCR → 검수·승인 → DB 적재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3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자연어 질의 → 키워드 추출 → 매칭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3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4  </a:t>
            </a:r>
            <a:r>
              <a:rPr sz="23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대표·연관 + 관련도 설명 → 엑셀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7280" y="3291840"/>
            <a:ext cx="10561320" cy="7223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AF3"/>
            </a:solidFill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0" y="3291840"/>
            <a:ext cx="10561320" cy="86868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예외 복구 (의도적 재현)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0" y="4526280"/>
            <a:ext cx="9692640" cy="5669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22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비동기 OCR 실패 →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동기 경로 자동 폴백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22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동시 요청 과부하 →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HTTP 503 명시적 응답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22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LLM 언어 오염 →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강한 페르소나로 재시도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00"/>
              </a:spcAft>
            </a:pPr>
            <a:r>
              <a:rPr sz="2200" b="1">
                <a:solidFill>
                  <a:srgbClr val="D9534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2200" b="1">
                <a:solidFill>
                  <a:srgbClr val="0A2745"/>
                </a:solidFill>
                <a:latin typeface="Pretendard"/>
                <a:ea typeface="Pretendard"/>
                <a:cs typeface="Pretendard"/>
              </a:rPr>
              <a:t>응답 신뢰 불가 → </a:t>
            </a:r>
            <a:r>
              <a:rPr sz="22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조용히 감추지 않고 실패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10607040"/>
            <a:ext cx="21808440" cy="1188720"/>
          </a:xfrm>
          <a:prstGeom prst="roundRect">
            <a:avLst>
              <a:gd name="adj" fmla="val 12000"/>
            </a:avLst>
          </a:prstGeom>
          <a:solidFill>
            <a:srgbClr val="D3EAFB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잘 되는 것만이 아니라 </a:t>
            </a:r>
            <a:r>
              <a:rPr sz="24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실패를 어떻게 다루는지</a:t>
            </a:r>
            <a:r>
              <a:rPr sz="24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를 보여준다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8. 향후 발전 방향 및 소회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현재와 목표 · 우선순위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3200400"/>
          <a:ext cx="21808440" cy="3429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04220"/>
                <a:gridCol w="10904220"/>
              </a:tblGrid>
              <a:tr h="8229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다음 목표</a:t>
                      </a:r>
                    </a:p>
                  </a:txBody>
                  <a:tcPr anchor="ctr" marL="164592" marR="109728" marT="54864" marB="54864">
                    <a:solidFill>
                      <a:srgbClr val="0A2745"/>
                    </a:solidFill>
                    <a:lnL w="9525" cap="flat">
                      <a:solidFill>
                        <a:srgbClr val="0A2745"/>
                      </a:solidFill>
                    </a:lnL>
                    <a:lnR w="9525" cap="flat">
                      <a:solidFill>
                        <a:srgbClr val="0A2745"/>
                      </a:solidFill>
                    </a:lnR>
                    <a:lnT w="9525" cap="flat">
                      <a:solidFill>
                        <a:srgbClr val="0A2745"/>
                      </a:solidFill>
                    </a:lnT>
                    <a:lnB w="9525" cap="flat">
                      <a:solidFill>
                        <a:srgbClr val="0A2745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대표 1 + 연관 1 + 관련도 설명 (단답 RAG)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다중 문서 종합 대화형 · 업종 맞춤 답변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검증된 코드 계약 + 실기동(/ready)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논문 mAP · CER · TEDS 정량 측정</a:t>
                      </a:r>
                    </a:p>
                  </a:txBody>
                  <a:tcPr anchor="ctr" marL="182880" marR="146304" marT="82296" marB="82296">
                    <a:solidFill>
                      <a:srgbClr val="ECF5FD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모델·프롬프트 버전 미기록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400" b="0">
                          <a:solidFill>
                            <a:srgbClr val="14161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provenance · 버전 기록 추가</a:t>
                      </a:r>
                    </a:p>
                  </a:txBody>
                  <a:tcPr anchor="ctr" marL="182880" marR="146304" marT="82296" marB="82296">
                    <a:solidFill>
                      <a:srgbClr val="FFFFFF"/>
                    </a:solidFill>
                    <a:lnL w="9525" cap="flat">
                      <a:solidFill>
                        <a:srgbClr val="D8E3EE"/>
                      </a:solidFill>
                    </a:lnL>
                    <a:lnR w="9525" cap="flat">
                      <a:solidFill>
                        <a:srgbClr val="D8E3EE"/>
                      </a:solidFill>
                    </a:lnR>
                    <a:lnT w="9525" cap="flat">
                      <a:solidFill>
                        <a:srgbClr val="D8E3EE"/>
                      </a:solidFill>
                    </a:lnT>
                    <a:lnB w="9525" cap="flat">
                      <a:solidFill>
                        <a:srgbClr val="D8E3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7360920"/>
            <a:ext cx="2157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700" b="1">
                <a:solidFill>
                  <a:srgbClr val="1187CF"/>
                </a:solidFill>
                <a:latin typeface="Pretendard"/>
                <a:ea typeface="Pretendard"/>
                <a:cs typeface="Pretendard"/>
              </a:rPr>
              <a:t>우선순위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① 실제 논문 10편 수용 테스트   ② 평가셋 mAP/CER/TEDS/recall 측정   ③ 비동기 재개 완성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41618"/>
                </a:solidFill>
                <a:latin typeface="Pretendard SemiBold"/>
                <a:ea typeface="Pretendard SemiBold"/>
                <a:cs typeface="Pretendard SemiBold"/>
              </a:rPr>
              <a:t>④ 다중 문서 종합 답변 생성   ⑤ 기준 미달 영역만 파인튜닝 (게이트)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0332720"/>
            <a:ext cx="21808440" cy="14630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0A2745"/>
              </a:gs>
              <a:gs pos="100000">
                <a:srgbClr val="185388"/>
              </a:gs>
            </a:gsLst>
            <a:lin scaled="0" ang="18600000"/>
          </a:gra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없이 모델을 키우지 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62456" y="731520"/>
            <a:ext cx="2103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B8E9FF"/>
                </a:solidFill>
                <a:latin typeface="Pretendard SemiBold"/>
                <a:ea typeface="Pretendard SemiBold"/>
                <a:cs typeface="Pretendard SemiBold"/>
              </a:rPr>
              <a:t>8. 향후 발전 방향 및 소회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62456" y="1417320"/>
            <a:ext cx="2148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23106888" cy="10561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128016" dist="64008" dir="5400000" rotWithShape="0">
              <a:srgbClr val="0A2038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4206240"/>
            <a:ext cx="19659600" cy="5303520"/>
          </a:xfrm>
          <a:prstGeom prst="roundRect">
            <a:avLst>
              <a:gd name="adj" fmla="val 5000"/>
            </a:avLst>
          </a:prstGeom>
          <a:solidFill>
            <a:srgbClr val="ECF5FD"/>
          </a:solidFill>
          <a:ln w="17780">
            <a:solidFill>
              <a:srgbClr val="CF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rIns="91440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B8E9FF"/>
                </a:solidFill>
                <a:latin typeface="Pretendard ExtraBold"/>
                <a:ea typeface="Pretendard ExtraBold"/>
                <a:cs typeface="Pretendard ExtraBold"/>
              </a:rPr>
              <a:t>“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0">
                <a:solidFill>
                  <a:srgbClr val="0A2745"/>
                </a:solidFill>
                <a:latin typeface="Pretendard SemiBold"/>
                <a:ea typeface="Pretendard SemiBold"/>
                <a:cs typeface="Pretendard SemiBold"/>
              </a:rPr>
              <a:t>프로젝트를 진행하며 느낀 점 · 어려웠던 점 · 배운 점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5E5E5E"/>
                </a:solidFill>
                <a:latin typeface="Pretendard"/>
                <a:ea typeface="Pretendard"/>
                <a:cs typeface="Pretendard"/>
              </a:rPr>
              <a:t>발표자가 직접 작성 — 코드나 문서로 대신할 수 없는 부분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85680" y="38404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20720304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200"/>
              </a:spcAft>
            </a:pPr>
            <a:r>
              <a:rPr sz="3400" b="0">
                <a:solidFill>
                  <a:srgbClr val="49C4DD"/>
                </a:solidFill>
                <a:latin typeface="Pretendard SemiBold"/>
                <a:ea typeface="Pretendard SemiBold"/>
                <a:cs typeface="Pretendard SemiBold"/>
              </a:rPr>
              <a:t>기대 효과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</a:pPr>
            <a:r>
              <a:rPr sz="58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정리는 </a:t>
            </a:r>
            <a:r>
              <a:rPr sz="5800" b="0">
                <a:solidFill>
                  <a:srgbClr val="B8E9FF"/>
                </a:solidFill>
                <a:latin typeface="Pretendard ExtraBold"/>
                <a:ea typeface="Pretendard ExtraBold"/>
                <a:cs typeface="Pretendard ExtraBold"/>
              </a:rPr>
              <a:t>자동으로</a:t>
            </a:r>
            <a:r>
              <a:rPr sz="58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· 검색은 </a:t>
            </a:r>
            <a:r>
              <a:rPr sz="5800" b="0">
                <a:solidFill>
                  <a:srgbClr val="B8E9FF"/>
                </a:solidFill>
                <a:latin typeface="Pretendard ExtraBold"/>
                <a:ea typeface="Pretendard ExtraBold"/>
                <a:cs typeface="Pretendard ExtraBold"/>
              </a:rPr>
              <a:t>근거와 함께</a:t>
            </a:r>
            <a:r>
              <a:rPr sz="5800" b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· 결과는 </a:t>
            </a:r>
            <a:r>
              <a:rPr sz="5800" b="0">
                <a:solidFill>
                  <a:srgbClr val="B8E9FF"/>
                </a:solidFill>
                <a:latin typeface="Pretendard ExtraBold"/>
                <a:ea typeface="Pretendard ExtraBold"/>
                <a:cs typeface="Pretendard ExtraBold"/>
              </a:rPr>
              <a:t>바로 활용하게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17352" y="9144000"/>
            <a:ext cx="2743200" cy="91440"/>
          </a:xfrm>
          <a:prstGeom prst="roundRect">
            <a:avLst>
              <a:gd name="adj" fmla="val 50000"/>
            </a:avLst>
          </a:prstGeom>
          <a:solidFill>
            <a:srgbClr val="49C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9692640"/>
            <a:ext cx="2072030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폐쇄망에서 동작하는 논문 분석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
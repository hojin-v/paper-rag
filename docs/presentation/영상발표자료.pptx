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2438403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417320" y="1234440"/>
            <a:ext cx="21534120" cy="11247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87168" y="2880360"/>
            <a:ext cx="1965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187CF"/>
                </a:solidFill>
                <a:latin typeface="Pretendard SemiBold"/>
                <a:ea typeface="Pretendard SemiBold"/>
                <a:cs typeface="Pretendard SemiBold"/>
              </a:rPr>
              <a:t>개발 프로젝트 소개 · 5분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977639"/>
            <a:ext cx="205740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400" b="0">
                <a:solidFill>
                  <a:srgbClr val="1187CF"/>
                </a:solidFill>
                <a:latin typeface="Pretendard ExtraBold"/>
                <a:ea typeface="Pretendard ExtraBold"/>
                <a:cs typeface="Pretendard ExtraBold"/>
              </a:rPr>
              <a:t>온프레미스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400" b="0">
                <a:solidFill>
                  <a:srgbClr val="1187CF"/>
                </a:solidFill>
                <a:latin typeface="Pretendard ExtraBold"/>
                <a:ea typeface="Pretendard ExtraBold"/>
                <a:cs typeface="Pretendard ExtraBold"/>
              </a:rPr>
              <a:t>논문 분석 RAG 시스템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87168" y="7955279"/>
            <a:ext cx="3346704" cy="768096"/>
          </a:xfrm>
          <a:prstGeom prst="roundRect">
            <a:avLst>
              <a:gd name="adj" fmla="val 50000"/>
            </a:avLst>
          </a:prstGeom>
          <a:solidFill>
            <a:srgbClr val="D3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4D7D"/>
                </a:solidFill>
                <a:latin typeface="Pretendard SemiBold"/>
                <a:ea typeface="Pretendard SemiBold"/>
                <a:cs typeface="Pretendard SemiBold"/>
              </a:rPr>
              <a:t>PDF 자동 구조화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7955279"/>
            <a:ext cx="2249424" cy="768096"/>
          </a:xfrm>
          <a:prstGeom prst="roundRect">
            <a:avLst>
              <a:gd name="adj" fmla="val 50000"/>
            </a:avLst>
          </a:prstGeom>
          <a:solidFill>
            <a:srgbClr val="D3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4D7D"/>
                </a:solidFill>
                <a:latin typeface="Pretendard SemiBold"/>
                <a:ea typeface="Pretendard SemiBold"/>
                <a:cs typeface="Pretendard SemiBold"/>
              </a:rPr>
              <a:t>키워드 검색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05088" y="7955279"/>
            <a:ext cx="3346704" cy="768096"/>
          </a:xfrm>
          <a:prstGeom prst="roundRect">
            <a:avLst>
              <a:gd name="adj" fmla="val 50000"/>
            </a:avLst>
          </a:prstGeom>
          <a:solidFill>
            <a:srgbClr val="D3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4D7D"/>
                </a:solidFill>
                <a:latin typeface="Pretendard SemiBold"/>
                <a:ea typeface="Pretendard SemiBold"/>
                <a:cs typeface="Pretendard SemiBold"/>
              </a:rPr>
              <a:t>근거 기반(RAG)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62688" y="7955279"/>
            <a:ext cx="1975104" cy="768096"/>
          </a:xfrm>
          <a:prstGeom prst="roundRect">
            <a:avLst>
              <a:gd name="adj" fmla="val 50000"/>
            </a:avLst>
          </a:prstGeom>
          <a:solidFill>
            <a:srgbClr val="D3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4D7D"/>
                </a:solidFill>
                <a:latin typeface="Pretendard SemiBold"/>
                <a:ea typeface="Pretendard SemiBold"/>
                <a:cs typeface="Pretendard SemiBold"/>
              </a:rPr>
              <a:t>엑셀 산출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48688" y="7955279"/>
            <a:ext cx="1975104" cy="768096"/>
          </a:xfrm>
          <a:prstGeom prst="roundRect">
            <a:avLst>
              <a:gd name="adj" fmla="val 50000"/>
            </a:avLst>
          </a:prstGeom>
          <a:solidFill>
            <a:srgbClr val="D3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4D7D"/>
                </a:solidFill>
                <a:latin typeface="Pretendard SemiBold"/>
                <a:ea typeface="Pretendard SemiBold"/>
                <a:cs typeface="Pretendard SemiBold"/>
              </a:rPr>
              <a:t>온프레미스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0698480"/>
            <a:ext cx="1965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5E5E5E"/>
                </a:solidFill>
                <a:latin typeface="Pretendard"/>
                <a:ea typeface="Pretendard"/>
                <a:cs typeface="Pretendard"/>
              </a:rPr>
              <a:t>비정형 PDF를 검수 가능한 지식과 엑셀로 — 폐쇄망에서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논문은 많지만, 바로 검색할 수 없다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3246120"/>
            <a:ext cx="10561320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AF3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3246120"/>
            <a:ext cx="146304" cy="3794760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3566160"/>
            <a:ext cx="96926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27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문제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2500" b="1">
                <a:solidFill>
                  <a:srgbClr val="D9534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5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구조·품질이 제각각인 PDF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2500" b="1">
                <a:solidFill>
                  <a:srgbClr val="D9534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5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본문·표·참고문헌이 뒤섞임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2500" b="1">
                <a:solidFill>
                  <a:srgbClr val="D9534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5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사람이 일일이 확인·정리하는 수작업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527280" y="3246120"/>
            <a:ext cx="10561320" cy="379476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600000"/>
          </a:gra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94360" rIns="594360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2700" b="0">
                <a:solidFill>
                  <a:srgbClr val="49C4DD"/>
                </a:solidFill>
                <a:latin typeface="Pretendard SemiBold"/>
                <a:ea typeface="Pretendard SemiBold"/>
                <a:cs typeface="Pretendard SemiBold"/>
              </a:rPr>
              <a:t>해결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수작업을 </a:t>
            </a:r>
            <a:r>
              <a:rPr sz="3000" b="1">
                <a:solidFill>
                  <a:srgbClr val="B8E9FF"/>
                </a:solidFill>
                <a:latin typeface="Pretendard"/>
                <a:ea typeface="Pretendard"/>
                <a:cs typeface="Pretendard"/>
              </a:rPr>
              <a:t>자동으로 구조화</a:t>
            </a: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하고,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검색엔 </a:t>
            </a:r>
            <a:r>
              <a:rPr sz="3000" b="1">
                <a:solidFill>
                  <a:srgbClr val="B8E9FF"/>
                </a:solidFill>
                <a:latin typeface="Pretendard"/>
                <a:ea typeface="Pretendard"/>
                <a:cs typeface="Pretendard"/>
              </a:rPr>
              <a:t>근거(RAG)</a:t>
            </a: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를 붙여 엑셀로 제공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8138160"/>
            <a:ext cx="4709160" cy="1417320"/>
          </a:xfrm>
          <a:prstGeom prst="roundRect">
            <a:avLst>
              <a:gd name="adj" fmla="val 12000"/>
            </a:avLst>
          </a:prstGeom>
          <a:solidFill>
            <a:srgbClr val="D3EAFB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PDF 업로드</a:t>
            </a:r>
          </a:p>
        </p:txBody>
      </p:sp>
      <p:sp>
        <p:nvSpPr>
          <p:cNvPr id="12" name="Chevron 11"/>
          <p:cNvSpPr/>
          <p:nvPr/>
        </p:nvSpPr>
        <p:spPr>
          <a:xfrm>
            <a:off x="6501384" y="8577072"/>
            <a:ext cx="475488" cy="548640"/>
          </a:xfrm>
          <a:prstGeom prst="chevron">
            <a:avLst/>
          </a:prstGeom>
          <a:solidFill>
            <a:srgbClr val="118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13448" y="8138160"/>
            <a:ext cx="4709160" cy="1417320"/>
          </a:xfrm>
          <a:prstGeom prst="roundRect">
            <a:avLst>
              <a:gd name="adj" fmla="val 12000"/>
            </a:avLst>
          </a:prstGeom>
          <a:solidFill>
            <a:srgbClr val="D3EAFB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자동 구조화</a:t>
            </a:r>
          </a:p>
        </p:txBody>
      </p:sp>
      <p:sp>
        <p:nvSpPr>
          <p:cNvPr id="14" name="Chevron 13"/>
          <p:cNvSpPr/>
          <p:nvPr/>
        </p:nvSpPr>
        <p:spPr>
          <a:xfrm>
            <a:off x="11777472" y="8577072"/>
            <a:ext cx="475488" cy="548640"/>
          </a:xfrm>
          <a:prstGeom prst="chevron">
            <a:avLst/>
          </a:prstGeom>
          <a:solidFill>
            <a:srgbClr val="118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289536" y="8138160"/>
            <a:ext cx="4709160" cy="1417320"/>
          </a:xfrm>
          <a:prstGeom prst="roundRect">
            <a:avLst>
              <a:gd name="adj" fmla="val 12000"/>
            </a:avLst>
          </a:prstGeom>
          <a:solidFill>
            <a:srgbClr val="D3EAFB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(반자동) 보정·적재</a:t>
            </a:r>
          </a:p>
        </p:txBody>
      </p:sp>
      <p:sp>
        <p:nvSpPr>
          <p:cNvPr id="16" name="Chevron 15"/>
          <p:cNvSpPr/>
          <p:nvPr/>
        </p:nvSpPr>
        <p:spPr>
          <a:xfrm>
            <a:off x="17053560" y="8577072"/>
            <a:ext cx="475488" cy="548640"/>
          </a:xfrm>
          <a:prstGeom prst="chevron">
            <a:avLst/>
          </a:prstGeom>
          <a:solidFill>
            <a:srgbClr val="118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565624" y="8138160"/>
            <a:ext cx="4709160" cy="141732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1187CF"/>
              </a:gs>
              <a:gs pos="100000">
                <a:srgbClr val="49C4DD"/>
              </a:gs>
            </a:gsLst>
            <a:lin scaled="0" ang="18900000"/>
          </a:gra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검색 → 엑셀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10104120"/>
            <a:ext cx="21579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E5E5E"/>
                </a:solidFill>
                <a:latin typeface="Pretendard SemiBold"/>
                <a:ea typeface="Pretendard SemiBold"/>
                <a:cs typeface="Pretendard SemiBold"/>
              </a:rPr>
              <a:t>논문 원문을 외부로 보내지 않는 온프레미스 시스템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서비스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무엇을 하는 서비스인가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34440" y="3383280"/>
            <a:ext cx="70408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34440" y="3383280"/>
            <a:ext cx="146304" cy="2880360"/>
          </a:xfrm>
          <a:prstGeom prst="roundRect">
            <a:avLst>
              <a:gd name="adj" fmla="val 30000"/>
            </a:avLst>
          </a:prstGeom>
          <a:solidFill>
            <a:srgbClr val="118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91640" y="3822191"/>
            <a:ext cx="914400" cy="914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187CF"/>
              </a:gs>
              <a:gs pos="100000">
                <a:srgbClr val="49C4DD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937760"/>
            <a:ext cx="6126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전 페이지 OCR·레이아웃 분석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E5E5E"/>
                </a:solidFill>
                <a:latin typeface="Pretendard SemiBold"/>
                <a:ea typeface="Pretendard SemiBold"/>
                <a:cs typeface="Pretendard SemiBold"/>
              </a:rPr>
              <a:t>디지털·스캔 자동 구조화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19" y="3383280"/>
            <a:ext cx="70408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32519" y="3383280"/>
            <a:ext cx="146304" cy="2880360"/>
          </a:xfrm>
          <a:prstGeom prst="roundRect">
            <a:avLst>
              <a:gd name="adj" fmla="val 30000"/>
            </a:avLst>
          </a:prstGeom>
          <a:solidFill>
            <a:srgbClr val="118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89719" y="3822191"/>
            <a:ext cx="914400" cy="914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187CF"/>
              </a:gs>
              <a:gs pos="100000">
                <a:srgbClr val="49C4DD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4937760"/>
            <a:ext cx="6126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단락·표 자동 추출·요약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E5E5E"/>
                </a:solidFill>
                <a:latin typeface="Pretendard SemiBold"/>
                <a:ea typeface="Pretendard SemiBold"/>
                <a:cs typeface="Pretendard SemiBold"/>
              </a:rPr>
              <a:t>본문만 선별·정제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230600" y="3383280"/>
            <a:ext cx="70408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230600" y="3383280"/>
            <a:ext cx="146304" cy="2880360"/>
          </a:xfrm>
          <a:prstGeom prst="roundRect">
            <a:avLst>
              <a:gd name="adj" fmla="val 30000"/>
            </a:avLst>
          </a:prstGeom>
          <a:solidFill>
            <a:srgbClr val="118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6687800" y="3822191"/>
            <a:ext cx="914400" cy="914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187CF"/>
              </a:gs>
              <a:gs pos="100000">
                <a:srgbClr val="49C4DD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33520" y="4937760"/>
            <a:ext cx="6126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대표 키워드 자동 추출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E5E5E"/>
                </a:solidFill>
                <a:latin typeface="Pretendard SemiBold"/>
                <a:ea typeface="Pretendard SemiBold"/>
                <a:cs typeface="Pretendard SemiBold"/>
              </a:rPr>
              <a:t>논문당 3~5개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6720840"/>
            <a:ext cx="70408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34440" y="6720840"/>
            <a:ext cx="146304" cy="2880360"/>
          </a:xfrm>
          <a:prstGeom prst="roundRect">
            <a:avLst>
              <a:gd name="adj" fmla="val 30000"/>
            </a:avLst>
          </a:prstGeom>
          <a:solidFill>
            <a:srgbClr val="118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691640" y="7159752"/>
            <a:ext cx="914400" cy="914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187CF"/>
              </a:gs>
              <a:gs pos="100000">
                <a:srgbClr val="49C4DD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8275319"/>
            <a:ext cx="6126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정확 키워드 검색 + 유사 제안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E5E5E"/>
                </a:solidFill>
                <a:latin typeface="Pretendard SemiBold"/>
                <a:ea typeface="Pretendard SemiBold"/>
                <a:cs typeface="Pretendard SemiBold"/>
              </a:rPr>
              <a:t>정규화·별칭 · 임베딩 Top-3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19" y="6720840"/>
            <a:ext cx="70408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32519" y="6720840"/>
            <a:ext cx="146304" cy="2880360"/>
          </a:xfrm>
          <a:prstGeom prst="roundRect">
            <a:avLst>
              <a:gd name="adj" fmla="val 30000"/>
            </a:avLst>
          </a:prstGeom>
          <a:solidFill>
            <a:srgbClr val="118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719" y="7159752"/>
            <a:ext cx="914400" cy="914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187CF"/>
              </a:gs>
              <a:gs pos="100000">
                <a:srgbClr val="49C4DD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8275319"/>
            <a:ext cx="6126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근거 기반 관련도 설명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E5E5E"/>
                </a:solidFill>
                <a:latin typeface="Pretendard SemiBold"/>
                <a:ea typeface="Pretendard SemiBold"/>
                <a:cs typeface="Pretendard SemiBold"/>
              </a:rPr>
              <a:t>retrieval + 근거 제한 생성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230600" y="6720840"/>
            <a:ext cx="70408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230600" y="6720840"/>
            <a:ext cx="146304" cy="2880360"/>
          </a:xfrm>
          <a:prstGeom prst="roundRect">
            <a:avLst>
              <a:gd name="adj" fmla="val 30000"/>
            </a:avLst>
          </a:prstGeom>
          <a:solidFill>
            <a:srgbClr val="118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6687800" y="7159752"/>
            <a:ext cx="914400" cy="914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187CF"/>
              </a:gs>
              <a:gs pos="100000">
                <a:srgbClr val="49C4DD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733520" y="8275319"/>
            <a:ext cx="6126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엑셀 산출물 자동 생성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E5E5E"/>
                </a:solidFill>
                <a:latin typeface="Pretendard SemiBold"/>
                <a:ea typeface="Pretendard SemiBold"/>
                <a:cs typeface="Pretendard SemiBold"/>
              </a:rPr>
              <a:t>최대 9시트 고정 매핑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동작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등록·검수 그리고 검색 — 두 사용자 경험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-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4114800"/>
            <a:ext cx="21214080" cy="76469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54480" y="3154680"/>
            <a:ext cx="21214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등록</a:t>
            </a:r>
            <a:r>
              <a:rPr sz="26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은 올리면 자동 구조화(필요 시 보정)되고, </a:t>
            </a:r>
            <a:r>
              <a:rPr sz="26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검색</a:t>
            </a:r>
            <a:r>
              <a:rPr sz="26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은 대표·연관 논문과 근거를 반환한다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3계층 · 전부 로컬에서 동작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-sys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3840480"/>
            <a:ext cx="20482560" cy="87900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3154680"/>
            <a:ext cx="2139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클라이언트 · 서비스(수집/검색) · 저장·모델 서빙 — 런타임 외부 호출 없음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핵심 차별점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단순 검색이 아니다 — 근거 기반 RAG · 온프레미스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2157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① 검색에 근거를 붙인다 (RAG)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3931920"/>
            <a:ext cx="6309360" cy="1874519"/>
          </a:xfrm>
          <a:prstGeom prst="roundRect">
            <a:avLst>
              <a:gd name="adj" fmla="val 10000"/>
            </a:avLst>
          </a:prstGeom>
          <a:solidFill>
            <a:srgbClr val="D3EAFB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대표 / 연관 논문 확정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955279" y="4631436"/>
            <a:ext cx="685800" cy="475488"/>
          </a:xfrm>
          <a:prstGeom prst="rightArrow">
            <a:avLst/>
          </a:prstGeom>
          <a:solidFill>
            <a:srgbClr val="118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23960" y="3931920"/>
            <a:ext cx="6309360" cy="1874519"/>
          </a:xfrm>
          <a:prstGeom prst="roundRect">
            <a:avLst>
              <a:gd name="adj" fmla="val 10000"/>
            </a:avLst>
          </a:prstGeom>
          <a:solidFill>
            <a:srgbClr val="D3EAFB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질의와 가장 유사한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근거 단락 1개 선택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5316200" y="4631436"/>
            <a:ext cx="685800" cy="475488"/>
          </a:xfrm>
          <a:prstGeom prst="rightArrow">
            <a:avLst/>
          </a:prstGeom>
          <a:solidFill>
            <a:srgbClr val="118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184880" y="3931920"/>
            <a:ext cx="6309360" cy="1874519"/>
          </a:xfrm>
          <a:prstGeom prst="roundRect">
            <a:avLst>
              <a:gd name="adj" fmla="val 10000"/>
            </a:avLst>
          </a:prstGeom>
          <a:solidFill>
            <a:srgbClr val="D3EAFB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“왜 관련 있는지”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1~2문장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6126480"/>
            <a:ext cx="2139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5E5E5E"/>
                </a:solidFill>
                <a:latin typeface="Pretendard SemiBold"/>
                <a:ea typeface="Pretendard SemiBold"/>
                <a:cs typeface="Pretendard SemiBold"/>
              </a:rPr>
              <a:t>근거 단락 밖의 내용은 생성하지 않는다 — </a:t>
            </a:r>
            <a:r>
              <a:rPr sz="23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retrieval + 근거 제한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7360920"/>
            <a:ext cx="2157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② 논문 원문을 외부로 보내지 않는다 (온프레미스)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8229600"/>
            <a:ext cx="21808440" cy="278892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600000"/>
          </a:gra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25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레이아웃·OCR·표(Paddle) · 임베딩(BGE-M3) · LLM(Qwen2.5·Ollama) · 저장소(PostgreSQL+pgvector)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8E9FF"/>
                </a:solidFill>
                <a:latin typeface="Pretendard"/>
                <a:ea typeface="Pretendard"/>
                <a:cs typeface="Pretendard"/>
              </a:rPr>
              <a:t>전부 로컬 CPU에서 실행 · 런타임 외부 API 호출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자동화 신뢰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자동화, 어떻게 믿나 — 기준과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3291840"/>
            <a:ext cx="10561320" cy="6309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AF3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3291840"/>
            <a:ext cx="10561320" cy="8686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4553712"/>
            <a:ext cx="96012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</a:pPr>
            <a:r>
              <a:rPr sz="23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3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신뢰도(confidence)로 자동/검수 구분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</a:pPr>
            <a:r>
              <a:rPr sz="23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3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필터 규칙 — 그림·수식·참고문헌 제외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</a:pPr>
            <a:r>
              <a:rPr sz="23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3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LLM — JSON 스키마 + 언어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527280" y="3291840"/>
            <a:ext cx="10561320" cy="6309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AF3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527280" y="3291840"/>
            <a:ext cx="10561320" cy="8686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기대에 못 미치면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30200" y="4553712"/>
            <a:ext cx="96012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</a:pPr>
            <a:r>
              <a:rPr sz="2300" b="1">
                <a:solidFill>
                  <a:srgbClr val="D9534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3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신뢰도 낮으면 사람이 보정 (반자동)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</a:pPr>
            <a:r>
              <a:rPr sz="2300" b="1">
                <a:solidFill>
                  <a:srgbClr val="D9534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3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LLM 실패 → 재시도 → 폴백 → 명시적 실패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</a:pPr>
            <a:r>
              <a:rPr sz="2300" b="1">
                <a:solidFill>
                  <a:srgbClr val="D9534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3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저품질 미적재 · 확정본만 적재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10058400"/>
            <a:ext cx="21808440" cy="13716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600000"/>
          </a:gra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품질 바 = 합격선(mAP·CER·TEDS·F1) · 측정 없이 튜닝 없다 (게이트)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구현 화면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 구조화 결과 · 반자동 품질 보정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3246120"/>
            <a:ext cx="14264640" cy="8503920"/>
          </a:xfrm>
          <a:prstGeom prst="roundRect">
            <a:avLst>
              <a:gd name="adj" fmla="val 3000"/>
            </a:avLst>
          </a:prstGeom>
          <a:solidFill>
            <a:srgbClr val="F2F5F9"/>
          </a:solidFill>
          <a:ln w="20320">
            <a:solidFill>
              <a:srgbClr val="B9C6D4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0">
                <a:solidFill>
                  <a:srgbClr val="7A8B9C"/>
                </a:solidFill>
                <a:latin typeface="Pretendard SemiBold"/>
                <a:ea typeface="Pretendard SemiBold"/>
                <a:cs typeface="Pretendard SemiBold"/>
              </a:rPr>
              <a:t>🖼  스크린샷 삽입 영역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구조화 뷰어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5E5E5E"/>
                </a:solidFill>
                <a:latin typeface="Menlo"/>
                <a:ea typeface="Pretendard"/>
                <a:cs typeface="Menlo"/>
              </a:rPr>
              <a:t>/documents/{id}/viewer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9AA8B6"/>
                </a:solidFill>
                <a:latin typeface="Pretendard SemiBold"/>
                <a:ea typeface="Pretendard SemiBold"/>
                <a:cs typeface="Pretendard SemiBold"/>
              </a:rPr>
              <a:t>1920×1080 캡처를 이 자리에 붙여넣기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910559" y="3246120"/>
            <a:ext cx="7178040" cy="8503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AF3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67759" y="3611880"/>
            <a:ext cx="6309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화면에서 보여줄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67759" y="4572000"/>
            <a:ext cx="6355080" cy="694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</a:pPr>
            <a:r>
              <a:rPr sz="21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▪  </a:t>
            </a:r>
            <a:r>
              <a:rPr sz="21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자동 검출된 블록·OCR 결과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</a:pPr>
            <a:r>
              <a:rPr sz="21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▪  </a:t>
            </a:r>
            <a:r>
              <a:rPr sz="21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블록별 신뢰도 표시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</a:pPr>
            <a:r>
              <a:rPr sz="21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▪  </a:t>
            </a:r>
            <a:r>
              <a:rPr sz="21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필요 시 사람이 확인·보정 (반자동)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</a:pPr>
            <a:r>
              <a:rPr sz="21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▪  </a:t>
            </a:r>
            <a:r>
              <a:rPr sz="21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확정 후 DB 적재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구현 화면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검색 — 자연어 질의와 근거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3246120"/>
            <a:ext cx="14264640" cy="8503920"/>
          </a:xfrm>
          <a:prstGeom prst="roundRect">
            <a:avLst>
              <a:gd name="adj" fmla="val 3000"/>
            </a:avLst>
          </a:prstGeom>
          <a:solidFill>
            <a:srgbClr val="F2F5F9"/>
          </a:solidFill>
          <a:ln w="20320">
            <a:solidFill>
              <a:srgbClr val="B9C6D4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0">
                <a:solidFill>
                  <a:srgbClr val="7A8B9C"/>
                </a:solidFill>
                <a:latin typeface="Pretendard SemiBold"/>
                <a:ea typeface="Pretendard SemiBold"/>
                <a:cs typeface="Pretendard SemiBold"/>
              </a:rPr>
              <a:t>🖼  스크린샷 삽입 영역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Streamlit 검색 UI (:8501)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5E5E5E"/>
                </a:solidFill>
                <a:latin typeface="Menlo"/>
                <a:ea typeface="Pretendard"/>
                <a:cs typeface="Menlo"/>
              </a:rPr>
              <a:t>POST /search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9AA8B6"/>
                </a:solidFill>
                <a:latin typeface="Pretendard SemiBold"/>
                <a:ea typeface="Pretendard SemiBold"/>
                <a:cs typeface="Pretendard SemiBold"/>
              </a:rPr>
              <a:t>1920×1080 캡처를 이 자리에 붙여넣기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910559" y="3246120"/>
            <a:ext cx="7178040" cy="8503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AF3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67759" y="3611880"/>
            <a:ext cx="6309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화면에서 보여줄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67759" y="4572000"/>
            <a:ext cx="6355080" cy="694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</a:pPr>
            <a:r>
              <a:rPr sz="21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▪  </a:t>
            </a:r>
            <a:r>
              <a:rPr sz="21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대표·연관 논문 카드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</a:pPr>
            <a:r>
              <a:rPr sz="21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▪  </a:t>
            </a:r>
            <a:r>
              <a:rPr sz="21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‘왜 이 논문인지’ 근거 설명 박스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</a:pPr>
            <a:r>
              <a:rPr sz="21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▪  </a:t>
            </a:r>
            <a:r>
              <a:rPr sz="21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(선택) 유사 키워드 Top-3 제안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</a:pPr>
            <a:r>
              <a:rPr sz="21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▪  </a:t>
            </a:r>
            <a:r>
              <a:rPr sz="21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근거 단락 기반 생성 결과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구현 화면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 — 엑셀 산출물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3246120"/>
            <a:ext cx="14264640" cy="8503920"/>
          </a:xfrm>
          <a:prstGeom prst="roundRect">
            <a:avLst>
              <a:gd name="adj" fmla="val 3000"/>
            </a:avLst>
          </a:prstGeom>
          <a:solidFill>
            <a:srgbClr val="F2F5F9"/>
          </a:solidFill>
          <a:ln w="20320">
            <a:solidFill>
              <a:srgbClr val="B9C6D4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0">
                <a:solidFill>
                  <a:srgbClr val="7A8B9C"/>
                </a:solidFill>
                <a:latin typeface="Pretendard SemiBold"/>
                <a:ea typeface="Pretendard SemiBold"/>
                <a:cs typeface="Pretendard SemiBold"/>
              </a:rPr>
              <a:t>🖼  스크린샷 삽입 영역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검색 결과 엑셀 (.xlsx)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5E5E5E"/>
                </a:solidFill>
                <a:latin typeface="Menlo"/>
                <a:ea typeface="Pretendard"/>
                <a:cs typeface="Menlo"/>
              </a:rPr>
              <a:t>GET /result/{id}/excel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9AA8B6"/>
                </a:solidFill>
                <a:latin typeface="Pretendard SemiBold"/>
                <a:ea typeface="Pretendard SemiBold"/>
                <a:cs typeface="Pretendard SemiBold"/>
              </a:rPr>
              <a:t>1920×1080 캡처를 이 자리에 붙여넣기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910559" y="3246120"/>
            <a:ext cx="7178040" cy="8503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AF3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67759" y="3611880"/>
            <a:ext cx="6309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화면에서 보여줄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67759" y="4572000"/>
            <a:ext cx="6355080" cy="694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</a:pPr>
            <a:r>
              <a:rPr sz="21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▪  </a:t>
            </a:r>
            <a:r>
              <a:rPr sz="21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검색 결과 요약 시트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</a:pPr>
            <a:r>
              <a:rPr sz="21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▪  </a:t>
            </a:r>
            <a:r>
              <a:rPr sz="21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대표/연관 논문·단락(원문/요약)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</a:pPr>
            <a:r>
              <a:rPr sz="21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▪  </a:t>
            </a:r>
            <a:r>
              <a:rPr sz="21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표 데이터·관련도 설명 시트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</a:pPr>
            <a:r>
              <a:rPr sz="21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▪  </a:t>
            </a:r>
            <a:r>
              <a:rPr sz="21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최대 9시트 자동 매핑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현황 ·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지금까지, 그리고 다음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3246120"/>
            <a:ext cx="10561320" cy="7223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AF3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3246120"/>
            <a:ext cx="10561320" cy="9144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지금까지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4526280"/>
            <a:ext cx="9601200" cy="5669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700"/>
              </a:spcAft>
            </a:pPr>
            <a:r>
              <a:rPr sz="2400" b="1">
                <a:solidFill>
                  <a:srgbClr val="22855C"/>
                </a:solidFill>
                <a:latin typeface="Pretendard"/>
                <a:ea typeface="Pretendard"/>
                <a:cs typeface="Pretendard"/>
              </a:rPr>
              <a:t>✓  </a:t>
            </a:r>
            <a:r>
              <a:rPr sz="24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자동화 테스트 192건 통과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700"/>
              </a:spcAft>
            </a:pPr>
            <a:r>
              <a:rPr sz="2400" b="1">
                <a:solidFill>
                  <a:srgbClr val="22855C"/>
                </a:solidFill>
                <a:latin typeface="Pretendard"/>
                <a:ea typeface="Pretendard"/>
                <a:cs typeface="Pretendard"/>
              </a:rPr>
              <a:t>✓  </a:t>
            </a:r>
            <a:r>
              <a:rPr sz="24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Paddle·BGE-M3·Ollama 실기동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700"/>
              </a:spcAft>
            </a:pPr>
            <a:r>
              <a:rPr sz="2400" b="1">
                <a:solidFill>
                  <a:srgbClr val="22855C"/>
                </a:solidFill>
                <a:latin typeface="Pretendard"/>
                <a:ea typeface="Pretendard"/>
                <a:cs typeface="Pretendard"/>
              </a:rPr>
              <a:t>✓  </a:t>
            </a:r>
            <a:r>
              <a:rPr sz="24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실제 논문 2편 OCR·적재 성공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700"/>
              </a:spcAft>
            </a:pPr>
            <a:r>
              <a:rPr sz="2400" b="1">
                <a:solidFill>
                  <a:srgbClr val="22855C"/>
                </a:solidFill>
                <a:latin typeface="Pretendard"/>
                <a:ea typeface="Pretendard"/>
                <a:cs typeface="Pretendard"/>
              </a:rPr>
              <a:t>✓  </a:t>
            </a:r>
            <a:r>
              <a:rPr sz="24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리허설 버그 2건 발견 → 당일 수정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527280" y="3246120"/>
            <a:ext cx="10561320" cy="7223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AF3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527280" y="3246120"/>
            <a:ext cx="10561320" cy="9144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30200" y="4526280"/>
            <a:ext cx="9601200" cy="5669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700"/>
              </a:spcAft>
            </a:pPr>
            <a:r>
              <a:rPr sz="24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→  </a:t>
            </a:r>
            <a:r>
              <a:rPr sz="24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15편 골든셋 라벨링 → 정확도 측정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700"/>
              </a:spcAft>
            </a:pPr>
            <a:r>
              <a:rPr sz="24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→  </a:t>
            </a:r>
            <a:r>
              <a:rPr sz="24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평가셋 50~100편으로 확대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700"/>
              </a:spcAft>
            </a:pPr>
            <a:r>
              <a:rPr sz="24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→  </a:t>
            </a:r>
            <a:r>
              <a:rPr sz="24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비동기 작업 실패 재개 완성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700"/>
              </a:spcAft>
            </a:pPr>
            <a:r>
              <a:rPr sz="24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→  </a:t>
            </a:r>
            <a:r>
              <a:rPr sz="24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기준 미달 항목만 파인튜닝(게이트)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10835640"/>
            <a:ext cx="21808440" cy="96012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600000"/>
          </a:gra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측정 없이 모델을 키우지 않는다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480560"/>
            <a:ext cx="20720304" cy="4754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0"/>
              </a:spcAft>
            </a:pPr>
            <a:r>
              <a:rPr sz="3300" b="0">
                <a:solidFill>
                  <a:srgbClr val="49C4DD"/>
                </a:solidFill>
                <a:latin typeface="Pretendard SemiBold"/>
                <a:ea typeface="Pretendard SemiBold"/>
                <a:cs typeface="Pretendard SemiBold"/>
              </a:rPr>
              <a:t>온프레미스 논문 분석 RAG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400"/>
              </a:spcAft>
            </a:pPr>
            <a:r>
              <a:rPr sz="90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감사합니다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B8E9FF"/>
                </a:solidFill>
                <a:latin typeface="Pretendard"/>
                <a:ea typeface="Pretendard"/>
                <a:cs typeface="Pretendard"/>
              </a:rPr>
              <a:t>정리는 자동으로 · 검색은 근거와 함께 · 결과는 바로 활용하게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